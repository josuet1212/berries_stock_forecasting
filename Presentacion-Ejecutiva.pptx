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Buenos días / buenas tardes. En esta presentación revisamos el análisis completo del Índice de Precios al Productor de berries en EEUU, serie WPUSI01102B del FRED, usando 215 observaciones mensuales de junio 2008 a abril 2026.</a:t>
            </a:r>
            <a:br/>
            <a:br/>
            <a:r>
              <a:t>El objetivo: explorar si TDA —Análisis Topológico de Datos— mejora la predicción de esta serie frente a SARIMA, RandomForest y LSTM tradicional.</a:t>
            </a:r>
            <a:br/>
            <a:br/>
            <a:r>
              <a:t>9 sesiones: cuatro de análisis y optimización, cinco de modelado predictivo progresivo.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La serie tiene 215 observaciones mensuales con rango de 80 a 410 puntos.</a:t>
            </a:r>
            <a:br/>
            <a:br/>
            <a:r>
              <a:t>Tres subperiodos con características distintas:</a:t>
            </a:r>
            <a:br/>
            <a:r>
              <a:t>— 2008–2012: crisis financiera global, alta volatilidad, precio oscila fuertemente.</a:t>
            </a:r>
            <a:br/>
            <a:r>
              <a:t>— 2013–2019: estabilidad relativa, serie más predecible.</a:t>
            </a:r>
            <a:br/>
            <a:r>
              <a:t>— 2020–2026: pandemia e inflación post-COVID, tendencia alcista pronunciada.</a:t>
            </a:r>
            <a:br/>
            <a:br/>
            <a:r>
              <a:t>Esta segmentación guía el análisis topológico: la estructura de los diagramas de persistencia cambia significativamente entre subperiodos.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El TDA se basa en el Teorema de Takens: dada una serie escalar, reconstruir el espacio de estados con D dimensiones y retardo τ preserva la topología del atractor del sistema dinámico original.</a:t>
            </a:r>
            <a:br/>
            <a:br/>
            <a:r>
              <a:t>Con D=6 y τ=3 meses, cada ventana de W=36 observaciones genera 21 vectores de 6 dimensiones. Vietoris-Rips detecta loops H₁ en esa nube: son los ciclos estacionales anuales.</a:t>
            </a:r>
            <a:br/>
            <a:br/>
            <a:r>
              <a:t>Del diagrama de persistencia extraemos: entropía de persistencia, amplitud, máxima persistencia H₁, curvas de Betti más el embedding crudo. Total: 152 features por timestep.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La intensidad de los loops H₁ varía significativamente entre subperiodos.</a:t>
            </a:r>
            <a:br/>
            <a:br/>
            <a:r>
              <a:t>2008–2012 produce los diagramas con mayor amplitud H₁. La alta volatilidad de la crisis crea una estructura topológica más pronunciada en el espacio de fase.</a:t>
            </a:r>
            <a:br/>
            <a:br/>
            <a:r>
              <a:t>2013–2019 tiene la menor persistencia H₁, consistente con la estabilidad de los precios.</a:t>
            </a:r>
            <a:br/>
            <a:br/>
            <a:r>
              <a:t>2020–2026 muestra valores intermedios: la pandemia recrea volatilidad pero con un patrón topológico diferente al de 2008.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Sesión 4 realizó un grid search sistemático.</a:t>
            </a:r>
            <a:br/>
            <a:br/>
            <a:r>
              <a:t>W=18 fue el óptimo —captura ~1.5 ciclos anuales, suficiente para que el embedding forme loops cerrados. Para LSTM adoptamos W=36 por mayor estabilidad con 215 observaciones.</a:t>
            </a:r>
            <a:br/>
            <a:br/>
            <a:r>
              <a:t>D=4 fue el óptimo —regla práctica D ≤ W/3. Con D=6 y W=36 se cumple la regla.</a:t>
            </a:r>
            <a:br/>
            <a:br/>
            <a:r>
              <a:t>τ=3 meses captura patrones trimestrales; con τ mayor se pierde autocorrelación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SARIMA es el benchmark estadístico clásico para series con estacionalidad mensual.</a:t>
            </a:r>
            <a:br/>
            <a:br/>
            <a:r>
              <a:t>SARIMA(1,1,1)(1,1,1)₁₂ combina parte regular e estacional. La doble diferenciación Δ₁Δ₁₂ elimina tendencia y estacionalidad, dejando residuos estacionarios.</a:t>
            </a:r>
            <a:br/>
            <a:br/>
            <a:r>
              <a:t>Los parámetros se eligen por AIC=1505.4. El ACF de la serie diferenciada confirma spikes en lag 1 (MA) y lag 12 (SMA).</a:t>
            </a:r>
            <a:br/>
            <a:br/>
            <a:r>
              <a:t>Test MAE = 30.98 sobre los mismos 26 meses usados para evaluar los modelos LSTM. SARIMA supera al LSTM puro (34.38) pero queda por debajo de LSTM+TDA v1 (29.49), confirmando que TDA aporta valor adicional sobre el baseline estadístico.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Sesión 6 construyó el primer modelo LSTM end-to-end con features TDA.</a:t>
            </a:r>
            <a:br/>
            <a:br/>
            <a:r>
              <a:t>Input shape (117, 12, 152): 117 secuencias de entrenamiento, L=12 pasos temporales, 152 features. De esos: 1 precio, 26 resúmenes topológicos, 126 embedding de Takens aplanado.</a:t>
            </a:r>
            <a:br/>
            <a:br/>
            <a:r>
              <a:t>Arquitectura: dos capas LSTM apiladas, Dense(16, relu), salida escalar lineal. MAE loss, Adam optimizer, EarlyStopping patience=20.</a:t>
            </a:r>
            <a:br/>
            <a:br/>
            <a:r>
              <a:t>MAE bajó de 38.71 RF baseline a 29.49: mejora del 23.8%, demostrando que el LSTM aprovecha la secuencia temporal de features TDA.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Esta es la comparación central que responde la pregunta de investigación.</a:t>
            </a:r>
            <a:br/>
            <a:br/>
            <a:r>
              <a:t>LSTM puro (solo precio, shape 12,1) alcanza MAE=34.38. SARIMA estadístico llega a 30.98. LSTM+TDA v1 llega a 29.49: mejora del 14.2% sobre LSTM puro y 4.8% sobre SARIMA.</a:t>
            </a:r>
            <a:br/>
            <a:br/>
            <a:r>
              <a:t>El TDA agrega información topológica genuina que ni el LSTM por sí solo ni SARIMA pueden capturar.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Sesión 8 enriqueció el pipeline TDA añadiendo H₂, Wasserstein distance y H₁ count.</a:t>
            </a:r>
            <a:br/>
            <a:br/>
            <a:r>
              <a:t>Wasserstein distance mide cuánto cambió la topología entre ventanas consecutivas —útil para detectar rupturas estructurales. H₂ detecta cavidades 3D en el embedding, raro en series 1D pero presente en crisis. H₁ count filtra ciclos significativos del ruido.</a:t>
            </a:r>
            <a:br/>
            <a:br/>
            <a:r>
              <a:t>Sin embargo, TDA v2 sin exógenas alcanzó MAE=32.99, peor que TDA v1 con 29.49. Con 168 muestras, más features aumentan el riesgo de sobreajuste.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La Sesión 8 construyó el modelo más complejo: LSTM con TDA v2, variables exógenas y atención multi-cabeza.</a:t>
            </a:r>
            <a:br/>
            <a:br/>
            <a:r>
              <a:t>Dos ramas de input se concatenan: TDA v2 (157 features) y variables exógenas (series FRED). La capa MultiHeadAttention con 4 cabezas y key_dim=16 pondera dinámicamente qué meses del año son más informativos. La conexión residual y LayerNorm estabilizan el entrenamiento.</a:t>
            </a:r>
            <a:br/>
            <a:br/>
            <a:r>
              <a:t>Test MAE = 29.11, el mejor global. El ablation reveló que el valor viene del TDA y la atención, no de las exógenas directamente —sin exógenas TDA v2 da 32.99.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El ranking completo confirma el orden de los modelos.</a:t>
            </a:r>
            <a:br/>
            <a:br/>
            <a:r>
              <a:t>LSTM+TDA v2+Exog+Attn lidera con 29.11. LSTM+TDA v1 es cercano con 29.49. Los modelos con calendar y lag features quedan en 30.10-30.31.</a:t>
            </a:r>
            <a:br/>
            <a:br/>
            <a:r>
              <a:t>SARIMA estadístico clásico queda en 30.98 —supera al LSTM puro (34.38) pero pierde frente a todos los modelos LSTM+TDA.</a:t>
            </a:r>
            <a:br/>
            <a:br/>
            <a:r>
              <a:t>Variables exógenas sin TDA dan el peor resultado: 45.69. La complejidad excesiva con N=168 perjudica la generalización.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Dos extensiones avanzadas.</a:t>
            </a:r>
            <a:br/>
            <a:br/>
            <a:r>
              <a:t>EP Loss penaliza errores en picos con factor alpha. Grid search eligió alpha=5, beta=0.5. MAE empeoró a 31.33 —con solo 32 extremos locales en 168 muestras la señal supervisada de peaks es insuficiente.</a:t>
            </a:r>
            <a:br/>
            <a:br/>
            <a:r>
              <a:t>Calendar features: month_sin/cos del mes objetivo mejoró MAE en 1.63 puntos. El LSTM no estaba infiriendo la estacionalidad anual solo del embedding TDA. Lag-1 y lag-12 explícitos mejoraron 0.21 puntos adicionales.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El gráfico muestra los tres modelos principales sobre el test set de 26 observaciones.</a:t>
            </a:r>
            <a:br/>
            <a:br/>
            <a:r>
              <a:t>LSTM+TDA v1 sigue mejor los cambios de dirección que LSTM puro y SARIMA, especialmente en los puntos de inflexión 2024-2025.</a:t>
            </a:r>
            <a:br/>
            <a:br/>
            <a:r>
              <a:t>Los tres modelos exhiben el efecto 'shift': predicciones tienden a seguir el valor del mes anterior. Esto es el efecto conocido de modelos que predicen niveles directamente.</a:t>
            </a:r>
            <a:br/>
            <a:br/>
            <a:r>
              <a:t>La corrección sería entrenar sobre primeras diferencias Δprice y reconstruir el nivel por suma acumulada.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/>
            </a:pPr>
            <a:r>
              <a:t>Para cerrar, cuatro conclusiones clave.</a:t>
            </a:r>
            <a:br/>
            <a:br/>
            <a:r>
              <a:t>Primera: TDA agrega valor real. −14.2% MAE sobre LSTM puro y −4.8% sobre SARIMA.</a:t>
            </a:r>
            <a:br/>
            <a:br/>
            <a:r>
              <a:t>Segunda: SARIMA es un baseline estadístico sólido —supera al LSTM puro, pero queda por debajo de LSTM+TDA.</a:t>
            </a:r>
            <a:br/>
            <a:br/>
            <a:r>
              <a:t>Tercera: con N=168, la complejidad tiene límites. Más features, exógenas y pérdidas asimétricas no mejoran con pocos datos.</a:t>
            </a:r>
            <a:br/>
            <a:br/>
            <a:r>
              <a:t>Cuarta: calendar features son un quick-win de bajo costo. El próximo paso natural es entrenar sobre diferencias y STL para eliminar el shift implícito.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Análisis Topológico de Datos + 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DEFB"/>
                </a:solidFill>
                <a:latin typeface="Calibri"/>
              </a:rPr>
              <a:t>Forecasting del PPI de Berries  ·  FRED: WPUSI01102B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CAF9"/>
                </a:solidFill>
                <a:latin typeface="Calibri"/>
              </a:rPr>
              <a:t>Junio 2008 – Abril 2026  |  215 observaciones mensuales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017520"/>
            <a:ext cx="8869680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CAF9"/>
                </a:solidFill>
                <a:latin typeface="Calibri"/>
              </a:rPr>
              <a:t>Sesiones 2–10  ·  TDA  ·  Takens Embedding  ·  LSTM  ·  SARIMA  ·  EP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B5F6"/>
                </a:solidFill>
                <a:latin typeface="Calibri"/>
              </a:rPr>
              <a:t>Topología — 6° Semestre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6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Los Datos: PPI Mensual de Berries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Sesiones 2–3  |  EDA y definición de subperiodos para análisis TDA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1170432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¿Qué es TDA y por qué funciona?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Sesiones 2–3  |  Teorema de Takens + Persistent Homology → features cuantitativos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4754880" cy="603504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Serie de precios  p(t)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8249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773936"/>
            <a:ext cx="4754880" cy="603504"/>
          </a:xfrm>
          <a:prstGeom prst="rect">
            <a:avLst/>
          </a:prstGeom>
          <a:solidFill>
            <a:srgbClr val="ECEFF1"/>
          </a:solidFill>
          <a:ln w="1524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47088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46E7A"/>
                </a:solidFill>
                <a:latin typeface="Calibri"/>
              </a:rPr>
              <a:t>Ventana deslizante  W = 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5915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450592"/>
            <a:ext cx="4754880" cy="60350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523744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Takens Embedding  D=6, τ=3
→ nube de 21 vectores en ℝ⁶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0358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127248"/>
            <a:ext cx="4754880" cy="603504"/>
          </a:xfrm>
          <a:prstGeom prst="rect">
            <a:avLst/>
          </a:prstGeom>
          <a:solidFill>
            <a:srgbClr val="FFF3E0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200400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  <a:latin typeface="Calibri"/>
              </a:rPr>
              <a:t>Vietoris-Rips Persistence
H₀, H₁ (y H₂ en v2)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71246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803904"/>
            <a:ext cx="4754880" cy="603504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877056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Features TDA: PE, AMP, Betti,
max H₁, Wasserstein 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38912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480560"/>
            <a:ext cx="4754880" cy="603504"/>
          </a:xfrm>
          <a:prstGeom prst="rect">
            <a:avLst/>
          </a:prstGeom>
          <a:solidFill>
            <a:srgbClr val="E3F2FD"/>
          </a:solidFill>
          <a:ln w="1524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553712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  <a:latin typeface="Calibri"/>
              </a:rPr>
              <a:t>+ Raw Takens (21×6 = 126)
= 152 features/timestep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10789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Conceptos clave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1444752"/>
            <a:ext cx="6309360" cy="1207008"/>
          </a:xfrm>
          <a:prstGeom prst="rect">
            <a:avLst/>
          </a:prstGeom>
          <a:solidFill>
            <a:srgbClr val="E3F2FD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50992" y="1481328"/>
            <a:ext cx="6199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Loop H₁ = Estacionalidad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1700784"/>
            <a:ext cx="61996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Si la serie tiene un ciclo de período P=12 meses
con D≥4 y τ=3, el embedding forma un loop
cerrado en ℝᴰ detectado como H₁ persistente.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697480"/>
            <a:ext cx="6309360" cy="1207008"/>
          </a:xfrm>
          <a:prstGeom prst="rect">
            <a:avLst/>
          </a:prstGeom>
          <a:solidFill>
            <a:srgbClr val="E3F2FD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2734056"/>
            <a:ext cx="6199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  <a:latin typeface="Calibri"/>
              </a:rPr>
              <a:t>Entropía de Persistencia (PE)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0992" y="2953512"/>
            <a:ext cx="61996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Mide la complejidad topológica del diagrama.
Alta PE = muchos loops de vida similar → volatilidad
Baja PE = pocos ciclos dominantes → estabilidad.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3950208"/>
            <a:ext cx="6309360" cy="1207008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0992" y="3986784"/>
            <a:ext cx="6199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Wasserstein Distance (nuevo v2)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0992" y="4206240"/>
            <a:ext cx="61996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Distancia entre diagramas de ventanas consecutivas.
Detecta rupturas estructurales en la serie:
Δ grande = cambio topológico brusco.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5202936"/>
            <a:ext cx="6309360" cy="1207008"/>
          </a:xfrm>
          <a:prstGeom prst="rect">
            <a:avLst/>
          </a:prstGeom>
          <a:solidFill>
            <a:srgbClr val="E3F2FD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50992" y="5239512"/>
            <a:ext cx="6199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Ventaja frente a SARIMA/RF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50992" y="5458968"/>
            <a:ext cx="61996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Captura geometría del atractor del sistema dinámico,
no solo correlaciones lineales entre rezagos.
Funciona sin suponer estacionariedad.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TDA por Subperiodo: H₁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Sesiones 2–3  |  La crisis 2008–2012 muestra la estructura topológica más pronunciada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78992"/>
            <a:ext cx="5303520" cy="5074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720" y="1097280"/>
            <a:ext cx="6126480" cy="1572768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33872" y="1133856"/>
            <a:ext cx="6016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2008–2012 (Crisis)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1353312"/>
            <a:ext cx="601675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H₁ máxima = 0.82
Mayor persistencia → alta volatilidad
crea estructura topológica más distinguible.
Mejor subperiodo para TDA.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743200"/>
            <a:ext cx="6126480" cy="157276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3872" y="2779776"/>
            <a:ext cx="6016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2013–2019 (Estable)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2999232"/>
            <a:ext cx="601675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H₁ máxima = 0.45
H₁ más débil → estabilidad
reduce complejidad topológica.
Serie casi lineal en este período.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389120"/>
            <a:ext cx="6126480" cy="1572768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4425696"/>
            <a:ext cx="6016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  <a:latin typeface="Calibri"/>
              </a:rPr>
              <a:t>2020–2026 (Pandemia)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4645152"/>
            <a:ext cx="601675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H₁ máxima = 0.61
Volatilidad pandémica recrea
estructura topológica, pero con
patrón diferente al de 2008.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Optimización de Parámetros TDA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Sesión 4  |  Grid search sobre W, D, τ — parámetros finales: W=36, D=6, τ=3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78992"/>
            <a:ext cx="11704320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8600" y="5650992"/>
            <a:ext cx="11704320" cy="86868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568756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65C0"/>
                </a:solidFill>
                <a:latin typeface="Calibri"/>
              </a:rPr>
              <a:t>Parámetros finales adoptados en sesiones LSTM:   W=36  ·  D=6  ·  τ=3
(ventana 3 años, embedding span 15 meses, ciclos trimestrales)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Modelo SARIMA — Baseline Estadístico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SARIMA(1,1,1)(1,1,1)₁₂  |  AIC = 1505.4  |  Test MAE = 30.98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78992"/>
            <a:ext cx="5394960" cy="1335024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115568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Notación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335024"/>
            <a:ext cx="528523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SARIMA(p, d, q)(P, D, Q)ₛ
s = 12  (mensual, ciclo anual)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468880"/>
            <a:ext cx="5394960" cy="1335024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2505456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Parte regular  (p=1, d=1, q=1)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2724912"/>
            <a:ext cx="528523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p=1  AR: y(t) depende de y(t-1)
d=1  Una diferenciación: elimina tendencia
q=1  MA: corrección de error t-1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858768"/>
            <a:ext cx="5394960" cy="1335024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3895344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  <a:latin typeface="Calibri"/>
              </a:rPr>
              <a:t>Parte estacional  (P=1, D=1, Q=1)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" y="4114800"/>
            <a:ext cx="528523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P=1  SAR: patrón rezagado 12 meses
D=1  Diferencia estacional: elimina ciclo anual
Q=1  SMA: error estacional rezagado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5248656"/>
            <a:ext cx="5394960" cy="1335024"/>
          </a:xfrm>
          <a:prstGeom prst="rect">
            <a:avLst/>
          </a:prstGeom>
          <a:solidFill>
            <a:srgbClr val="ECEFF1"/>
          </a:solidFill>
          <a:ln w="190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" y="5285232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46E7A"/>
                </a:solidFill>
                <a:latin typeface="Calibri"/>
              </a:rPr>
              <a:t>Selección de parámetros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" y="5504688"/>
            <a:ext cx="528523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Grid search  p,q ∈ {0,1,2}  ·  P,Q ∈ {0,1}
Criterio: AIC mínimo
AIC(1,1,1)(1,1,1)₁₂ = 1505.4  ← ganador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078992"/>
            <a:ext cx="6035040" cy="288036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897880" y="4041648"/>
          <a:ext cx="603504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38912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SARIMA(1,1,1)(1,1,1)₁₂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Serie histórica p(t) — 215 obs mensuales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Transf.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Δ₁Δ₁₂ p(t)  (diferenciación doble)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Horizonte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h=1 mes adelante (one-step-ahead rolling)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AIC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1505.4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Test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30.98  (mismo test set LSTM: 26 obs)</a:t>
                      </a:r>
                    </a:p>
                  </a:txBody>
                  <a:tcPr/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vs LSTM Puro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SARIMA 30.98  vs  LSTM Puro 34.38  → −10.0%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vs TDA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SARIMA 30.98  vs  TDA v1 29.49  → TDA gana +4.8%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Sesiones 5–6: RandomForest → LSTM + TDA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Primer modelo end-to-end con features TDA  |  152 features/paso  |  −23.8% MAE vs RF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78992"/>
            <a:ext cx="5029200" cy="5074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078992"/>
            <a:ext cx="6309360" cy="1682496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50992" y="1115568"/>
            <a:ext cx="6199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INPUT  —  shape (117, 12, 152)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0992" y="1335024"/>
            <a:ext cx="6199632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• 117 secuencias (set entrenamiento)
• L = 12 pasos temporales (1 año lookback)
• 152 features por paso:
    price(t): 1  |  PE H₀,H₁: 2  |  AMP H₀,H₁: 2
    max H₁: 1  |  BettiCurve(×20): 20
    Raw Takens (21×6): 126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816352"/>
            <a:ext cx="6309360" cy="1682496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2852928"/>
            <a:ext cx="6199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ARQUITECTURA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3072384"/>
            <a:ext cx="6199632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LSTM(64, return_sequences=True, dropout=0.2)
→ LSTM(32, dropout=0.2)
→ Dense(16, relu)
→ Dense(1, linear)
Loss: MAE  ·  Optimizer: Adam(lr=1e-3)
EarlyStopping patience=20  ·  Epochs=200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4553712"/>
            <a:ext cx="6309360" cy="1682496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50992" y="4590288"/>
            <a:ext cx="6199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  <a:latin typeface="Calibri"/>
              </a:rPr>
              <a:t>OUTPUT + RESULTADOS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992" y="4809744"/>
            <a:ext cx="6199632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ŷ = precio PPI mes siguiente
Test MAE: 29.49  |  R²: 0.569
Split: 70/15/15 cronológico
Train=117, Val=25, Test=26 secuencias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LSTM Puro vs LSTM + TDA — ¿Agrega valor el TDA?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Sesiones 7–8  |  Comparación directa con mismo split y arquitectura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78992"/>
            <a:ext cx="7498079" cy="5074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1078992"/>
            <a:ext cx="4114800" cy="1207008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115568"/>
            <a:ext cx="4005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TDA aporta +14% sobre LSTM Puro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1335024"/>
            <a:ext cx="40050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29.49 vs 34.38 → −14.2%
Features topológicos capturan
estructura cíclica no lineal.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340864"/>
            <a:ext cx="4114800" cy="1207008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2377440"/>
            <a:ext cx="4005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TDA supera a SARIMA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596896"/>
            <a:ext cx="40050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29.49 vs 30.98 → −4.8%
Sin suponer linealidad ni
estacionariedad.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602736"/>
            <a:ext cx="4114800" cy="1207008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3639312"/>
            <a:ext cx="4005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Exógenas sin TDA = peor 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858768"/>
            <a:ext cx="40050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45.69 MAE — con N=168
muestras el modelo no
apprende relaciones macro.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4864608"/>
            <a:ext cx="4114800" cy="1207008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4901184"/>
            <a:ext cx="4005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  <a:latin typeface="Calibri"/>
              </a:rPr>
              <a:t>LSTM &gt; SARIMA con TDA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5120640"/>
            <a:ext cx="400507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LSTM estructura secuencial
aprovecha features TDA mejor
que métodos estadísticos.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TDA v2: Features Enriquecidos (157)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Sesión 8  |  H₂ + Wasserstein distance + H₁ count — de 152 a 157 features/timestep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097280"/>
          <a:ext cx="80467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73736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v1 (152)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v2 (157)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price(t)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Base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PE  H₀, H₁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→ H₀,H₁,H₂ (3)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Topológico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AMP H₀, H₁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→ H₀,H₁,H₂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Topológico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max H₁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Topológico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BettiCurve (×20)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Topológico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Wasserstein Δ H₀,H₁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2 ★ NEW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Topológico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H₁ count &gt; 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1 ★ 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Topológico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Raw Takens (21×6)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126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126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Embedding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321040" y="1097280"/>
            <a:ext cx="3611880" cy="1316736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133856"/>
            <a:ext cx="3502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Wasserstein Distance Δ  (★ nuevo)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353312"/>
            <a:ext cx="350215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Distancia entre diagrama de ventana t y ventana t-1.
Mide cuánto cambió la topología de un mes al siguiente.
Δ grande = ruptura estructural detectada → feature de cambio.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468880"/>
            <a:ext cx="3611880" cy="1316736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505456"/>
            <a:ext cx="3502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  <a:latin typeface="Calibri"/>
              </a:rPr>
              <a:t>Homología H₂  (★ nuevo)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724912"/>
            <a:ext cx="350215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Detección de cavidades tridimensionales en el embedding.
H₂ es raro en series 1D pero aparece en períodos
de alta dimensionalidad efectiva (crisis 2020-2022).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840480"/>
            <a:ext cx="3611880" cy="1316736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3877056"/>
            <a:ext cx="3502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H₁ count &gt; percentil 75  (★ nuevo)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4096512"/>
            <a:ext cx="350215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Número de ciclos H₁ con persistencia por encima del p75.
Cuenta loops "significativos", filtrando ruido topológico.
Complementa max H₁ con información de multiplicidad.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5212080"/>
            <a:ext cx="3611880" cy="1316736"/>
          </a:xfrm>
          <a:prstGeom prst="rect">
            <a:avLst/>
          </a:prstGeom>
          <a:solidFill>
            <a:srgbClr val="ECEFF1"/>
          </a:solidFill>
          <a:ln w="190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5248656"/>
            <a:ext cx="3502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46E7A"/>
                </a:solidFill>
                <a:latin typeface="Calibri"/>
              </a:rPr>
              <a:t>Variables exógenas (probadas, descartadas)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5468112"/>
            <a:ext cx="350215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S&amp;P500, CPI, tipo de cambio, precios combustible.
Problema: N=168 secuencias demasiado pequeño.
Modelo no generaliza relaciones macro → MAE empeoró.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097280"/>
            <a:ext cx="2194560" cy="544068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011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65C0"/>
                </a:solidFill>
                <a:latin typeface="Calibri"/>
              </a:rPr>
              <a:t>Resultado
TDA v2
sin exóg.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6517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5100"/>
                </a:solidFill>
                <a:latin typeface="Calibri"/>
              </a:rPr>
              <a:t>MAE
32.99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66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vs TDA v1:
29.49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251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46E7A"/>
                </a:solidFill>
                <a:latin typeface="Calibri"/>
              </a:rPr>
              <a:t>Más features
no garantizan
mejora con
N pequeño.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LSTM + TDA v2 + Exógenas + Atención Multi-Cabeza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Sesión 8  |  Arquitectura completa — Test MAE = 29.11 (mejor global)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78992"/>
            <a:ext cx="5486400" cy="64008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15214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INPUT A:  TDA v2 sequence  (12, 157)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19072"/>
            <a:ext cx="3657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E7A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760220"/>
            <a:ext cx="5486400" cy="640080"/>
          </a:xfrm>
          <a:prstGeom prst="rect">
            <a:avLst/>
          </a:prstGeom>
          <a:solidFill>
            <a:srgbClr val="FFF3E0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8333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  <a:latin typeface="Calibri"/>
              </a:rPr>
              <a:t>INPUT B:  Variables exógenas  (12, 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00300"/>
            <a:ext cx="3657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E7A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441448"/>
            <a:ext cx="5486400" cy="640080"/>
          </a:xfrm>
          <a:prstGeom prst="rect">
            <a:avLst/>
          </a:prstGeom>
          <a:solidFill>
            <a:srgbClr val="ECEFF1"/>
          </a:solidFill>
          <a:ln w="1524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514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46E7A"/>
                </a:solidFill>
                <a:latin typeface="Calibri"/>
              </a:rPr>
              <a:t>Concatenar  →  (12, 157 + 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81528"/>
            <a:ext cx="3657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E7A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122676"/>
            <a:ext cx="548640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1958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LSTM(64, rs=True, dropout=0.2, rec_drop=0.1)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62756"/>
            <a:ext cx="3657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E7A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03904"/>
            <a:ext cx="5486400" cy="64008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87705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MultiHeadAttention(heads=4, key_dim=16)
+ LayerNorm + Residual connection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443984"/>
            <a:ext cx="3657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E7A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4485132"/>
            <a:ext cx="548640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455828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LSTM(32, dropout=0.2)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125212"/>
            <a:ext cx="3657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E7A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5166360"/>
            <a:ext cx="5486400" cy="640080"/>
          </a:xfrm>
          <a:prstGeom prst="rect">
            <a:avLst/>
          </a:prstGeom>
          <a:solidFill>
            <a:srgbClr val="ECEFF1"/>
          </a:solidFill>
          <a:ln w="1524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523951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46E7A"/>
                </a:solidFill>
                <a:latin typeface="Calibri"/>
              </a:rPr>
              <a:t>Dense(32, relu) → Dense(16, relu)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806440"/>
            <a:ext cx="3657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46E7A"/>
                </a:solidFill>
                <a:latin typeface="Calibri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5847588"/>
            <a:ext cx="5486400" cy="64008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" y="59207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Dense(1, linear)  →  ŷ precio t+1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989320" y="1078992"/>
          <a:ext cx="6080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520440"/>
              </a:tblGrid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Parámetro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MAE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Optimizer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Adam(lr=1e-3)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ReduceLROnPlateau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patience=15, factor=0.5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EarlyStopping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patience=30, restore_best=True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16  ·  Epochs max: 400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70/15/15 cronológico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117 secuencias  ·  (12, 162 features)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Test MAE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29.11  ★ MEJOR GLOBAL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vs TDA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29.11 vs 29.49  →  +1.3% mejora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Ablation exog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Calibri"/>
                        </a:rPr>
                        <a:t>Sin exóg: 32.99  |  Con exóg: 29.11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5989320" y="5303520"/>
            <a:ext cx="5989320" cy="1216152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534009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¿Por qué MultiHeadAttention?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632704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Permite ponderar dinámicamente qué pasos temporales de los 12 son más
relevantes para predecir t+1. Cabezas = 4 perspectivas paralelas sobre la secuencia.
Con N=168 la ganancia es marginal (+1.3%) pero confirma que la arquitectura escala.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Ablation Study — Ranking Completo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Todos los modelos evaluados sobre el mismo test set (26 obs) | ↓ MAE es mejor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78992"/>
            <a:ext cx="11887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Experimentos Avanzados: EP Loss + Calendar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Sesiones 9–10  |  Penalización de picos y estacionalidad explícita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07899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Sesión 9 — Enhanced Peak Loss + Multi-Task 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481328"/>
            <a:ext cx="5669280" cy="15544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517904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Función de pérdida 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737360"/>
            <a:ext cx="5559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L_EP = mean[(1 + α·is_peak) · |y − ŷ|]
     + β · BCE(peak_classification)
α ∈ {2, 3, 5, 8}  ·  β ∈ {0.1, 0.3, 0.5}
→ 12 combinaciones en grid 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3090672"/>
            <a:ext cx="5669280" cy="15544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3127248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Arquitectura dual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3346704"/>
            <a:ext cx="5559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Trunk compartido (LSTM+TDA v2)
→ head 1: Dense(1, linear) — precio
→ head 2: Dense(1, sigmoid) — ¿es pico?
Ganador: α=5, β=0.5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4700016"/>
            <a:ext cx="5669280" cy="155448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4736592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Resultado — MAE = 31.33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4956048"/>
            <a:ext cx="5559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Baseline S8: 29.11  →  EP Loss: 31.33
EP Loss PERJUDICÓ la generalización global.
Causa: solo 32 picos en 168 muestras (19%).
Señal insuficiente para aprender extremos.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078992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Sesión 10 — Calendar + Lag Features sobre TDA v1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897880" cy="27432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080760" y="4315968"/>
            <a:ext cx="5897880" cy="112471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4352544"/>
            <a:ext cx="5788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Feature: month_sin / month_cos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4572000"/>
            <a:ext cx="57881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month_sin = sin(2π · mes_objetivo / 12)
month_cos = cos(2π · mes_objetivo / 12)
Broadcast a los L=12 timesteps de la secuencia.
El LSTM NO infería estacionalidad anual solo desde TDA.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5495544"/>
            <a:ext cx="5897880" cy="1124712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5532120"/>
            <a:ext cx="5788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Lag features: lag-1 y lag-12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5751576"/>
            <a:ext cx="57881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lag_1  = precio mes anterior al objetivo
lag_12 = precio mismo mes año anterior
Mejora adicional de 0.21 puntos MAE.
Confirma que el shift implícito persiste.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Predicciones vs Real —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LSTM Puro vs LSTM+TDA v1 vs SARIMA  |  Últimas 26 observaciones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78992"/>
            <a:ext cx="1179576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Resumen y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Calibri"/>
              </a:rPr>
              <a:t>MAE ranking completo — Hallazgos clave — Próximos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PPI Berries — TDA + LSTM  |  Topología 6° Semestre  | 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078992"/>
          <a:ext cx="59436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Test MAE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Δ vs RF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LSTM+TDA v2+Exog+Attn (S8)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29.11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+24.8%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LSTM+TDA v1 (S6)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29.49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+23.8%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TDA v1+Cal+Lag (S10)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30.10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+22.2%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TDA v1+Calendar (S10)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30.31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+21.7%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SARIMA(1,1,1)(1,1,1)₁₂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30.98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+20.0%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EP Loss+MultiTask (S9)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31.33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+19.1%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LSTM+TDA v2 Sin Exog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32.99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+14.8%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LSTM Puro (S7)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34.38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+11.2%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RF Baseline (S5)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38.71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+0.0%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LightGBM+TDA v2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39.01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-0.8%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LSTM+Exog Sin 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45.69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Calibri"/>
                        </a:rPr>
                        <a:t>-18.0%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078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  <a:latin typeface="Calibri"/>
              </a:rPr>
              <a:t>Conclusiones Clave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81328"/>
            <a:ext cx="5577840" cy="1042415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517904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✓ TDA agrega valor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737360"/>
            <a:ext cx="5468112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−14.2% MAE vs LSTM puro (29.49 vs 34.38)
−4.8% vs SARIMA (29.49 vs 30.98)
Features topológicos capturan estructura cíclica no lineal.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560320"/>
            <a:ext cx="5577840" cy="1042415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596896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✓ SARIMA supera a LSTM Puro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816352"/>
            <a:ext cx="5468112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SARIMA: 30.98  vs  LSTM puro: 34.38
Benchmark estadístico sólido para esta serie.
LSTM solo supera a SARIMA con features TDA.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39312"/>
            <a:ext cx="5577840" cy="1042415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675888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  <a:latin typeface="Calibri"/>
              </a:rPr>
              <a:t>✓ Calendar features = quick 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895344"/>
            <a:ext cx="5468112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month_sin/cos → −1.63 MAE (de 31.93 a 30.31)
LSTM no infería estacionalidad anual desde TDA solo.
Costo computacional mínimo.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718304"/>
            <a:ext cx="5577840" cy="1042415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754880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✗ N=168 limita complejidad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974336"/>
            <a:ext cx="5468112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Exógenas, TDA v2 extra, EP Loss → sin mejora.
Más features o parámetros con datos insuficientes
produce sobreajuste, no generalización.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797296"/>
            <a:ext cx="5577840" cy="1042415"/>
          </a:xfrm>
          <a:prstGeom prst="rect">
            <a:avLst/>
          </a:prstGeom>
          <a:solidFill>
            <a:srgbClr val="ECEFF1"/>
          </a:solidFill>
          <a:ln w="190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5833872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46E7A"/>
                </a:solidFill>
                <a:latin typeface="Calibri"/>
              </a:rPr>
              <a:t>→ Próximo paso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6053328"/>
            <a:ext cx="5468112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3238"/>
                </a:solidFill>
                <a:latin typeface="Calibri"/>
              </a:rPr>
              <a:t>Entrenar en diferencias Δprice.
STL decomposition: tendencia + estacionalidad.
Elimina el shift implícito en predicciones.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